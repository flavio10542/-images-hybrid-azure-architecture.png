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42D4B"/>
                </a:solidFill>
              </a:rPr>
              <a:t>Hybrid Azure Architecture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5A646E"/>
                </a:solidFill>
              </a:rPr>
              <a:t>How to understand the architecture, security boundaries, identity, connectivity and traffic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657600"/>
            <a:ext cx="2926080" cy="960120"/>
          </a:xfrm>
          <a:prstGeom prst="rect">
            <a:avLst/>
          </a:prstGeom>
          <a:solidFill>
            <a:srgbClr val="F4F6F8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ON-PREMISES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4133087"/>
            <a:ext cx="77724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617720" y="3657600"/>
            <a:ext cx="2926080" cy="960120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AZURE VNET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4133087"/>
            <a:ext cx="77724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458200" y="3657600"/>
            <a:ext cx="2926080" cy="960120"/>
          </a:xfrm>
          <a:prstGeom prst="rect">
            <a:avLst/>
          </a:prstGeom>
          <a:solidFill>
            <a:srgbClr val="EFE8FA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IDENTITY +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48640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646E"/>
                </a:solidFill>
              </a:rPr>
              <a:t>Based on the architecture diagram published in your GitHub repository.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1.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The design connects a traditional environment to Azure while separating network, identity and security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56032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328"/>
                </a:solidFill>
              </a:rPr>
              <a:t>1 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148840"/>
            <a:ext cx="2331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On-premises ↔ Azure through a secure hybrid connection. Azure VPN Gateway is a common site-to-site pattern.</a:t>
            </a:r>
          </a:p>
          <a:p>
            <a:pPr>
              <a:spcBef>
                <a:spcPts val="1000"/>
              </a:spcBef>
            </a:pPr>
            <a:r>
              <a:rPr sz="1100" i="1">
                <a:solidFill>
                  <a:srgbClr val="5A646E"/>
                </a:solidFill>
              </a:rPr>
              <a:t>Key question: What is the trust boundary 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0712" y="1417320"/>
            <a:ext cx="2560320" cy="566928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328"/>
                </a:solidFill>
              </a:rPr>
              <a:t>2 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148840"/>
            <a:ext cx="2331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A Virtual Network is divided into subnets. Network controls limit which resources can communicate.</a:t>
            </a:r>
          </a:p>
          <a:p>
            <a:pPr>
              <a:spcBef>
                <a:spcPts val="1000"/>
              </a:spcBef>
            </a:pPr>
            <a:r>
              <a:rPr sz="1100" i="1">
                <a:solidFill>
                  <a:srgbClr val="5A646E"/>
                </a:solidFill>
              </a:rPr>
              <a:t>Key question: What is the trust boundary here?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504" y="1417320"/>
            <a:ext cx="2560320" cy="566928"/>
          </a:xfrm>
          <a:prstGeom prst="rect">
            <a:avLst/>
          </a:prstGeom>
          <a:solidFill>
            <a:srgbClr val="EFE8FA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328"/>
                </a:solidFill>
              </a:rPr>
              <a:t>3 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148840"/>
            <a:ext cx="2331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Microsoft Entra ID provides cloud identity, authentication and authorization for users and services.</a:t>
            </a:r>
          </a:p>
          <a:p>
            <a:pPr>
              <a:spcBef>
                <a:spcPts val="1000"/>
              </a:spcBef>
            </a:pPr>
            <a:r>
              <a:rPr sz="1100" i="1">
                <a:solidFill>
                  <a:srgbClr val="5A646E"/>
                </a:solidFill>
              </a:rPr>
              <a:t>Key question: What is the trust boundary here?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6296" y="1417320"/>
            <a:ext cx="2560320" cy="566928"/>
          </a:xfrm>
          <a:prstGeom prst="rect">
            <a:avLst/>
          </a:prstGeom>
          <a:solidFill>
            <a:srgbClr val="FDEFE1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2328"/>
                </a:solidFill>
              </a:rPr>
              <a:t>4  Security &amp;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024" y="2148840"/>
            <a:ext cx="2331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Azure security and monitoring services collect signals, protect workloads and support incident response.</a:t>
            </a:r>
          </a:p>
          <a:p>
            <a:pPr>
              <a:spcBef>
                <a:spcPts val="1000"/>
              </a:spcBef>
            </a:pPr>
            <a:r>
              <a:rPr sz="1100" i="1">
                <a:solidFill>
                  <a:srgbClr val="5A646E"/>
                </a:solidFill>
              </a:rPr>
              <a:t>Key question: What is the trust boundary 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2. Architecture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A simplified, presentation-ready interpretation of the uploaded architecture diagram.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17320"/>
            <a:ext cx="1965960" cy="3566160"/>
          </a:xfrm>
          <a:prstGeom prst="rect">
            <a:avLst/>
          </a:prstGeom>
          <a:solidFill>
            <a:srgbClr val="F4F6F8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2328"/>
                </a:solidFill>
              </a:rPr>
              <a:t>ON-PREMISES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965960"/>
            <a:ext cx="148132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Users / Devices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48132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AD / DNS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611880"/>
            <a:ext cx="1481328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Servers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1508760" cy="1325880"/>
          </a:xfrm>
          <a:prstGeom prst="round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078D4"/>
                </a:solidFill>
              </a:rPr>
              <a:t>VPN
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3017520"/>
            <a:ext cx="36576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26280" y="1234440"/>
            <a:ext cx="4251960" cy="3977639"/>
          </a:xfrm>
          <a:prstGeom prst="rect">
            <a:avLst/>
          </a:prstGeom>
          <a:solidFill>
            <a:srgbClr val="F8FB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2328"/>
                </a:solidFill>
              </a:rPr>
              <a:t>AZURE VIRTUAL NETWORK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828800"/>
            <a:ext cx="1783080" cy="777240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GatewaySubnet
VPN Gateway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1828800"/>
            <a:ext cx="1600200" cy="7772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Web / App
Subnet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2971800"/>
            <a:ext cx="1783080" cy="777240"/>
          </a:xfrm>
          <a:prstGeom prst="rect">
            <a:avLst/>
          </a:prstGeom>
          <a:solidFill>
            <a:srgbClr val="FDEFE1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Security / Mgmt
Subnet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971800"/>
            <a:ext cx="1600200" cy="7772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Data / Workload
Subnet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4160520"/>
            <a:ext cx="16002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NSG / Routing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3017520"/>
            <a:ext cx="27432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89720" y="1417320"/>
            <a:ext cx="2514600" cy="3566160"/>
          </a:xfrm>
          <a:prstGeom prst="rect">
            <a:avLst/>
          </a:prstGeom>
          <a:solidFill>
            <a:srgbClr val="EFE8FA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E2328"/>
                </a:solidFill>
              </a:rPr>
              <a:t>CLOUD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1965960"/>
            <a:ext cx="196596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Microsoft Entra 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788920"/>
            <a:ext cx="196596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Defender /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3611880"/>
            <a:ext cx="196596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2328"/>
                </a:solidFill>
              </a:rPr>
              <a:t>Monitor / Sentinel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2606040"/>
            <a:ext cx="411480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778240" y="3840480"/>
            <a:ext cx="411480" cy="0"/>
          </a:xfrm>
          <a:prstGeom prst="line">
            <a:avLst/>
          </a:prstGeom>
          <a:ln w="254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3. Network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The network layer controls how traffic enters, moves through and exits the Azure environment.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242316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Virtual Network (VNet)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408176"/>
            <a:ext cx="81838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Private IP space and the main Azure network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242316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Subnets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322576"/>
            <a:ext cx="81838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Logical segmentation for gateways, applications, management and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242316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VPN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236976"/>
            <a:ext cx="81838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Terminates encrypted site-to-site IPsec/IKE connectivity with on-premises networks.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4160520"/>
            <a:ext cx="242316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NSGs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4151376"/>
            <a:ext cx="81838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Filter inbound and outbound traffic at the subnet or network-interface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5074920"/>
            <a:ext cx="2423160" cy="566928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065776"/>
            <a:ext cx="8183879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Determines the next hop for traffic between subnets, on-premises and Azure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0644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2D4B"/>
                </a:solidFill>
              </a:rPr>
              <a:t>Security principle: segment first, then explicitly allow only the traffic that is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4. Identity and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Identity is separate from network connectivity: being connected to Azure does not automatically mean a user is authorized.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17320"/>
            <a:ext cx="2743200" cy="960120"/>
          </a:xfrm>
          <a:prstGeom prst="rect">
            <a:avLst/>
          </a:prstGeom>
          <a:solidFill>
            <a:srgbClr val="F4F6F8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User / Service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337560" y="1901952"/>
            <a:ext cx="777240" cy="0"/>
          </a:xfrm>
          <a:prstGeom prst="line">
            <a:avLst/>
          </a:prstGeom>
          <a:ln w="381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60520" y="1417320"/>
            <a:ext cx="2743200" cy="960120"/>
          </a:xfrm>
          <a:prstGeom prst="rect">
            <a:avLst/>
          </a:prstGeom>
          <a:solidFill>
            <a:srgbClr val="EFE8FA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Microsoft Entra ID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03720" y="1901952"/>
            <a:ext cx="777240" cy="0"/>
          </a:xfrm>
          <a:prstGeom prst="line">
            <a:avLst/>
          </a:prstGeom>
          <a:ln w="38100">
            <a:solidFill>
              <a:srgbClr val="673A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79" y="1417320"/>
            <a:ext cx="3474720" cy="960120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E2328"/>
                </a:solidFill>
              </a:rPr>
              <a:t>Azure Resource /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953512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Who are you?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971800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53512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What are you allowed to do?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206240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RBAC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187952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Which Azure resources can you access?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4206240"/>
            <a:ext cx="196596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Conditional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87952"/>
            <a:ext cx="3063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Under what conditions is access permitted?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692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A646E"/>
                </a:solidFill>
              </a:rPr>
              <a:t>Hybrid identity can synchronize on-premises identities with Microsoft Entra ID, enabling a consistent identity model across locations.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5. Security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For a cloud security analyst, the important part is turning architecture telemetry into detections, investigations and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2514600" cy="640080"/>
          </a:xfrm>
          <a:prstGeom prst="rect">
            <a:avLst/>
          </a:prstGeom>
          <a:solidFill>
            <a:srgbClr val="EFE8FA"/>
          </a:solidFill>
          <a:ln w="15240">
            <a:solidFill>
              <a:srgbClr val="673A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Microsoft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Security posture and workload protection signals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90672" y="1737360"/>
            <a:ext cx="246888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83280" y="1417320"/>
            <a:ext cx="2514600" cy="640080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Azure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2331720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Metrics, platform logs and operational monitoring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25312" y="1737360"/>
            <a:ext cx="246888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17920" y="1417320"/>
            <a:ext cx="251460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Log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331720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Central workspace for querying logs with KQL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59952" y="1737360"/>
            <a:ext cx="246888" cy="0"/>
          </a:xfrm>
          <a:prstGeom prst="line">
            <a:avLst/>
          </a:prstGeom>
          <a:ln w="1905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1417320"/>
            <a:ext cx="2514600" cy="640080"/>
          </a:xfrm>
          <a:prstGeom prst="rect">
            <a:avLst/>
          </a:prstGeom>
          <a:solidFill>
            <a:srgbClr val="FDEFE1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Microsoft 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2331720"/>
            <a:ext cx="2286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E2328"/>
                </a:solidFill>
              </a:rPr>
              <a:t>SIEM/SOAR layer for analytics rules, incidents, hunting and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4572000"/>
            <a:ext cx="2103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Telemetry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4901184"/>
            <a:ext cx="86868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114800" y="4572000"/>
            <a:ext cx="2103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Log Analytics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63640" y="4901184"/>
            <a:ext cx="86868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178040" y="4572000"/>
            <a:ext cx="210312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Sentinel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4901184"/>
            <a:ext cx="868680" cy="0"/>
          </a:xfrm>
          <a:prstGeom prst="line">
            <a:avLst/>
          </a:prstGeom>
          <a:ln w="25400">
            <a:solidFill>
              <a:srgbClr val="5A6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0241280" y="4572000"/>
            <a:ext cx="1097280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BE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E2328"/>
                </a:solidFill>
              </a:rPr>
              <a:t>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6. Example Traffic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Think of the architecture as a sequence of trust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41732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Client /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07568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Traffic originates on-premises.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1732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41732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VPN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07568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Traffic enters the encrypted site-to-site tunnel.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41732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41732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07568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Azure VPN Gateway terminates the tunnel.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56616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Network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2452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Routing and NSGs determine whether the destination is reachable.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56616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56616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Workload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22452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The application, VM or data service receives the request.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3566160"/>
            <a:ext cx="502920" cy="502920"/>
          </a:xfrm>
          <a:prstGeom prst="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3566160"/>
            <a:ext cx="2697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4224528"/>
            <a:ext cx="27432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328"/>
                </a:solidFill>
              </a:rPr>
              <a:t>Relevant logs and security signals are sent to monitoring/SIEM.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715000"/>
            <a:ext cx="5394960" cy="530352"/>
          </a:xfrm>
          <a:prstGeom prst="rect">
            <a:avLst/>
          </a:prstGeom>
          <a:solidFill>
            <a:srgbClr val="FDEFE1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2328"/>
                </a:solidFill>
              </a:rPr>
              <a:t>At every hop: Is the traffic authenticated, authorized, segmented and logged?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7. What This Means for a Cloud Security Analyst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Map architecture components to the operational tasks you would perform.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KQL / Hunting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307592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Query identity, network and workload telemetry for suspicious patterns.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25880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Analytics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307592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Create detections for authentication anomalies, network events and workload threats.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39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Incident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16351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Investigate incidents, scope affected resources and coordinate containment.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834639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Identity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816351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Review Entra sign-ins, risky users, MFA/Conditional Access and privileged 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Cloud Posture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325112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Identify misconfigurations in network exposure, identities, storage and compute.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343400"/>
            <a:ext cx="1828800" cy="530352"/>
          </a:xfrm>
          <a:prstGeom prst="rect">
            <a:avLst/>
          </a:prstGeom>
          <a:solidFill>
            <a:srgbClr val="E6F3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1E2328"/>
                </a:solidFill>
              </a:rP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325112"/>
            <a:ext cx="3337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328"/>
                </a:solidFill>
              </a:rPr>
              <a:t>Use playbooks/SOAR to enrich, notify or contain repeatable events.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D4B"/>
                </a:solidFill>
              </a:rPr>
              <a:t>8. Key Takeaways &amp;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646E"/>
                </a:solidFill>
              </a:rPr>
              <a:t>Use these points as your speaking script when presenting the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• Hybrid architecture = on-premises + Azure connected through controlled network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• VNet/subnets create segmentation; VPN Gateway provides encrypted site-to-site connectivity.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69464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• Microsoft Entra ID handles identity and access decisions; network access alone is not authorization.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91256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• Monitoring and SIEM turn platform, identity and workload telemetry into detections and incidents.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13048"/>
            <a:ext cx="10698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E2328"/>
                </a:solidFill>
              </a:rPr>
              <a:t>• For security operations, focus on the full chain: identity → network → workload → telemetry →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106070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2D4B"/>
                </a:solidFill>
              </a:rPr>
              <a:t>References</a:t>
            </a:r>
          </a:p>
          <a:p>
            <a:pPr>
              <a:defRPr sz="1050">
                <a:solidFill>
                  <a:srgbClr val="5A646E"/>
                </a:solidFill>
              </a:defRPr>
            </a:pPr>
            <a:r>
              <a:t>• Your GitHub architecture image: github.com/flavio10542/-images-hybrid-azure-architecture.png</a:t>
            </a:r>
          </a:p>
          <a:p>
            <a:pPr>
              <a:defRPr sz="1050">
                <a:solidFill>
                  <a:srgbClr val="5A646E"/>
                </a:solidFill>
              </a:defRPr>
            </a:pPr>
            <a:r>
              <a:t>• Microsoft Learn — Azure hybrid connectivity</a:t>
            </a:r>
          </a:p>
          <a:p>
            <a:pPr>
              <a:defRPr sz="1050">
                <a:solidFill>
                  <a:srgbClr val="5A646E"/>
                </a:solidFill>
              </a:defRPr>
            </a:pPr>
            <a:r>
              <a:t>• Microsoft Learn — Azure VPN Gateway / site-to-site architecture</a:t>
            </a:r>
          </a:p>
          <a:p>
            <a:pPr>
              <a:defRPr sz="1050">
                <a:solidFill>
                  <a:srgbClr val="5A646E"/>
                </a:solidFill>
              </a:defRPr>
            </a:pPr>
            <a:r>
              <a:t>• Microsoft Learn — Microsoft Entra hybrid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646E"/>
                </a:solidFill>
              </a:rPr>
              <a:t>Hybrid Azure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